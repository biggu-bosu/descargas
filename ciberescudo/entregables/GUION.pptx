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265a4772-cced-c417-74b1-972f4a8cf96b}">
          <p14:sldIdLst>
            <p14:sldId id="256"/>
            <p14:sldId id="257"/>
            <p14:sldId id="258"/>
          </p14:sldIdLst>
        </p14:section>
        <p14:section name="Producto" id="{fd4e9312-6b59-3151-ad6b-57e29fa1d5be}">
          <p14:sldIdLst>
            <p14:sldId id="259"/>
            <p14:sldId id="260"/>
            <p14:sldId id="261"/>
            <p14:sldId id="262"/>
          </p14:sldIdLst>
        </p14:section>
        <p14:section name="Técnica" id="{8661d5e5-0bd2-ce33-5139-34fe0da1d857}">
          <p14:sldIdLst>
            <p14:sldId id="263"/>
            <p14:sldId id="264"/>
          </p14:sldIdLst>
        </p14:section>
        <p14:section name="Cierre" id="{a788b2f6-8792-7f0e-5d23-ec5283fa62c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y presentación del equipo. «Somos el equipo ___ y les presentamos CiberEscudo, una app para aprender seguridad digital como si fuera un videojuego.» Duración: unos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los cuatro problemas que vive la escuela. Remarcar que no es culpa de las víctimas: son trampas diseñadas para engañar a cualquiera. Duración: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app se organiza en tres ideas: aprender, practicar y actuar. Mencionar que funciona sin internet y no pide cuentas ni datos. Duración: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Justificar el diseño: no es por gusto, es para atraer al público. Explicar que la mascota se dibujó con código (un mapa de letras que se convierte en cuadritos SVG). Duración: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en vivo con el celular si se puede. Inicio: la mascota y el progreso. Verificador: escribir «teamo123» (muy débil) y luego una frase larga (muy fuerte). Recalcar que la contraseña nunca se guarda. Duración: 1.5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vivo: tocar la flor para que cante; contestar un escenario del simulador y ver cómo celebra la mascota; mostrar los 3 mundos de retos. En Plan de acción, crear, editar, marcar y borrar una tarea y recargar para demostrar que se guardó. Abrir «Más → Certificado» para mostrar los requisitos. Duración: 1.5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por qué gamificamos: las recompensas pequeñas y la racha hacen que vuelvas. Aclarar que el XP tiene tope y que la meta es el certificado: al dominar 30 retos, 12 escenarios, 7 lecciones y 5 misiones de seguridad, la app considera que ya sabes de seguridad digital. Duración: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HTML, CSS y JavaScript sin frameworks ni librerías. Cada archivo tiene una tarea. Solo se guarda el progreso y las tareas; el verificador nunca guarda nada (hay una prueba automática que lo revisa). Duración: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honestos sobre qué hizo la IA y qué hicimos nosotros. Mencionar un ajuste manual concreto que hayan hecho (anótenlo en la Bitácora). Duración: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las tres ideas principales y el lema: «CiberEscudo: aprende jugando, protégete de verdad». Abrir espacio para preguntas. Duración: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Título</a:t>
            </a: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CiberEscudo · Preparatoria «Lázaro Cárdenas»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scota" descr="Mascota de CiberEscudo: flor rosa pixelada con lentes oscuros y una mariposa azu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3108960" cy="3630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23360" y="11887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CIBERESCUDO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02336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Aprende seguridad digital jugando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02336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educativa y gamificada para estudiantes de 15 a 18 años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Escuela Preparatoria «Lázaro Cárdenas»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3749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Equipo: ______________________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problemática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146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estudiantes de 15 a 18 años usan el celular a diario y casi nadie lee una guía de seguridad digital.</a:t>
            </a:r>
            <a:endParaRPr lang="en-US" sz="1500" dirty="0"/>
          </a:p>
        </p:txBody>
      </p:sp>
      <p:sp>
        <p:nvSpPr>
          <p:cNvPr id="5" name="problema Contraseñas débiles sombra"/>
          <p:cNvSpPr/>
          <p:nvPr/>
        </p:nvSpPr>
        <p:spPr>
          <a:xfrm>
            <a:off x="3904488" y="1344168"/>
            <a:ext cx="2286000" cy="13716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problema Contraseñas débiles"/>
          <p:cNvSpPr/>
          <p:nvPr/>
        </p:nvSpPr>
        <p:spPr>
          <a:xfrm>
            <a:off x="3840480" y="1280160"/>
            <a:ext cx="2286000" cy="137160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5"/>
            </a:solidFill>
            <a:prstDash val="solid"/>
          </a:ln>
        </p:spPr>
      </p:sp>
      <p:pic>
        <p:nvPicPr>
          <p:cNvPr id="7" name="icono candado" descr="Ícono cand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4630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02336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Contraseñas débiles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258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Cortas, comunes o repetidas</a:t>
            </a:r>
            <a:endParaRPr lang="en-US" sz="1100" dirty="0"/>
          </a:p>
        </p:txBody>
      </p:sp>
      <p:sp>
        <p:nvSpPr>
          <p:cNvPr id="10" name="problema Suplantación sombra"/>
          <p:cNvSpPr/>
          <p:nvPr/>
        </p:nvSpPr>
        <p:spPr>
          <a:xfrm>
            <a:off x="6419088" y="1344168"/>
            <a:ext cx="2286000" cy="1371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problema Suplantación"/>
          <p:cNvSpPr/>
          <p:nvPr/>
        </p:nvSpPr>
        <p:spPr>
          <a:xfrm>
            <a:off x="6355080" y="1280160"/>
            <a:ext cx="2286000" cy="137160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12" name="icono chat" descr="Ícono ch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630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3796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Suplantación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2258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Perfiles y números falsos</a:t>
            </a:r>
            <a:endParaRPr lang="en-US" sz="1100" dirty="0"/>
          </a:p>
        </p:txBody>
      </p:sp>
      <p:sp>
        <p:nvSpPr>
          <p:cNvPr id="15" name="problema Robo de cuentas sombra"/>
          <p:cNvSpPr/>
          <p:nvPr/>
        </p:nvSpPr>
        <p:spPr>
          <a:xfrm>
            <a:off x="3904488" y="2944368"/>
            <a:ext cx="2286000" cy="13716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problema Robo de cuentas"/>
          <p:cNvSpPr/>
          <p:nvPr/>
        </p:nvSpPr>
        <p:spPr>
          <a:xfrm>
            <a:off x="3840480" y="2880360"/>
            <a:ext cx="2286000" cy="137160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pic>
        <p:nvPicPr>
          <p:cNvPr id="17" name="icono alerta" descr="Ícono aler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306324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023360" y="3566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 de cuentas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402336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 y códigos compartidos</a:t>
            </a:r>
            <a:endParaRPr lang="en-US" sz="1100" dirty="0"/>
          </a:p>
        </p:txBody>
      </p:sp>
      <p:sp>
        <p:nvSpPr>
          <p:cNvPr id="20" name="problema Fotos sin permiso sombra"/>
          <p:cNvSpPr/>
          <p:nvPr/>
        </p:nvSpPr>
        <p:spPr>
          <a:xfrm>
            <a:off x="6419088" y="2944368"/>
            <a:ext cx="2286000" cy="13716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problema Fotos sin permiso"/>
          <p:cNvSpPr/>
          <p:nvPr/>
        </p:nvSpPr>
        <p:spPr>
          <a:xfrm>
            <a:off x="6355080" y="2880360"/>
            <a:ext cx="2286000" cy="137160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pic>
        <p:nvPicPr>
          <p:cNvPr id="22" name="icono ojo" descr="Ícono oj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306324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537960" y="3566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Fotos sin permiso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53796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difunden sin consentimiento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Nuestra propuesta</a:t>
            </a:r>
            <a:endParaRPr lang="en-US" sz="2800" dirty="0"/>
          </a:p>
        </p:txBody>
      </p:sp>
      <p:sp>
        <p:nvSpPr>
          <p:cNvPr id="3" name="pilar Aprende sombra"/>
          <p:cNvSpPr/>
          <p:nvPr/>
        </p:nvSpPr>
        <p:spPr>
          <a:xfrm>
            <a:off x="521208" y="1298448"/>
            <a:ext cx="2587752" cy="26060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pilar Aprende"/>
          <p:cNvSpPr/>
          <p:nvPr/>
        </p:nvSpPr>
        <p:spPr>
          <a:xfrm>
            <a:off x="457200" y="1234440"/>
            <a:ext cx="2587752" cy="2606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pic>
        <p:nvPicPr>
          <p:cNvPr id="5" name="icono ojo" descr="Ícono oj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Aprende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488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Guía de privacidad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Guía de incidentes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Verificador de contraseñas</a:t>
            </a:r>
            <a:endParaRPr lang="en-US" sz="1300" dirty="0"/>
          </a:p>
        </p:txBody>
      </p:sp>
      <p:sp>
        <p:nvSpPr>
          <p:cNvPr id="8" name="pilar Practica sombra"/>
          <p:cNvSpPr/>
          <p:nvPr/>
        </p:nvSpPr>
        <p:spPr>
          <a:xfrm>
            <a:off x="3328416" y="1298448"/>
            <a:ext cx="2587752" cy="2606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ilar Practica"/>
          <p:cNvSpPr/>
          <p:nvPr/>
        </p:nvSpPr>
        <p:spPr>
          <a:xfrm>
            <a:off x="3264408" y="1234440"/>
            <a:ext cx="2587752" cy="2606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10" name="icono chat" descr="Ícono ch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08" y="14630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87368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Practica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1488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Simulador: 12 mensajes trampa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retos en 3 mundos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Retroalimentación inmediata</a:t>
            </a:r>
            <a:endParaRPr lang="en-US" sz="1300" dirty="0"/>
          </a:p>
        </p:txBody>
      </p:sp>
      <p:sp>
        <p:nvSpPr>
          <p:cNvPr id="13" name="pilar Actúa sombra"/>
          <p:cNvSpPr/>
          <p:nvPr/>
        </p:nvSpPr>
        <p:spPr>
          <a:xfrm>
            <a:off x="6135624" y="1298448"/>
            <a:ext cx="2587752" cy="260604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pilar Actúa"/>
          <p:cNvSpPr/>
          <p:nvPr/>
        </p:nvSpPr>
        <p:spPr>
          <a:xfrm>
            <a:off x="6071616" y="1234440"/>
            <a:ext cx="2587752" cy="260604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4"/>
            </a:solidFill>
            <a:prstDash val="solid"/>
          </a:ln>
        </p:spPr>
      </p:sp>
      <p:pic>
        <p:nvPicPr>
          <p:cNvPr id="15" name="icono lista" descr="Ícono lis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146304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94576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1488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misiones de seguridad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Tareas personales (sin XP)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al dominar todo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Android y web  ·  funciona sin internet  ·  no recopila datos personales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Diseño: un videojuego retro</a:t>
            </a:r>
            <a:endParaRPr lang="en-US" sz="2800" dirty="0"/>
          </a:p>
        </p:txBody>
      </p:sp>
      <p:pic>
        <p:nvPicPr>
          <p:cNvPr id="3" name="mascota" descr="Mascota de CiberEscu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011680" cy="23500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Canta, celebra tus aciertos y te acompaña por la app como una florecita que habla con balbuceos.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108960" y="123444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art y cyberpunk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Inspirado en videojuegos retro: habla el idioma visual de los jóvenes.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Bordes duros y sombras sólidas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esquinas redondas, con líneas de escaneo y un glitch sutil.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 para una mano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Botones de 48 px o más y navegación al alcance del pulgar.</a:t>
            </a:r>
            <a:endParaRPr lang="en-US" sz="1300" dirty="0"/>
          </a:p>
        </p:txBody>
      </p:sp>
      <p:sp>
        <p:nvSpPr>
          <p:cNvPr id="6" name="color Rosa"/>
          <p:cNvSpPr/>
          <p:nvPr/>
        </p:nvSpPr>
        <p:spPr>
          <a:xfrm>
            <a:off x="6766560" y="1234440"/>
            <a:ext cx="594360" cy="5943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0" y="126187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#FF3D9A</a:t>
            </a:r>
            <a:endParaRPr lang="en-US" sz="1300" dirty="0"/>
          </a:p>
        </p:txBody>
      </p:sp>
      <p:sp>
        <p:nvSpPr>
          <p:cNvPr id="8" name="color Cian"/>
          <p:cNvSpPr/>
          <p:nvPr/>
        </p:nvSpPr>
        <p:spPr>
          <a:xfrm>
            <a:off x="6766560" y="2011680"/>
            <a:ext cx="594360" cy="594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98080" y="20391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Cian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#22E6F2</a:t>
            </a:r>
            <a:endParaRPr lang="en-US" sz="1300" dirty="0"/>
          </a:p>
        </p:txBody>
      </p:sp>
      <p:sp>
        <p:nvSpPr>
          <p:cNvPr id="10" name="color Amarillo"/>
          <p:cNvSpPr/>
          <p:nvPr/>
        </p:nvSpPr>
        <p:spPr>
          <a:xfrm>
            <a:off x="6766560" y="2788920"/>
            <a:ext cx="594360" cy="59436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281635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Amarillo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#FFD93B</a:t>
            </a:r>
            <a:endParaRPr lang="en-US" sz="1300" dirty="0"/>
          </a:p>
        </p:txBody>
      </p:sp>
      <p:sp>
        <p:nvSpPr>
          <p:cNvPr id="12" name="color Fondo"/>
          <p:cNvSpPr/>
          <p:nvPr/>
        </p:nvSpPr>
        <p:spPr>
          <a:xfrm>
            <a:off x="6766560" y="3566160"/>
            <a:ext cx="594360" cy="594360"/>
          </a:xfrm>
          <a:prstGeom prst="rect">
            <a:avLst/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0" y="35935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Fondo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#1F1536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aprende</a:t>
            </a:r>
            <a:endParaRPr lang="en-US" sz="2800" dirty="0"/>
          </a:p>
        </p:txBody>
      </p:sp>
      <p:sp>
        <p:nvSpPr>
          <p:cNvPr id="3" name="sombra inicio.png"/>
          <p:cNvSpPr/>
          <p:nvPr/>
        </p:nvSpPr>
        <p:spPr>
          <a:xfrm>
            <a:off x="612648" y="1161288"/>
            <a:ext cx="1499984" cy="32461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captura inicio.png" descr="Captura de la app: Inicio: maestría, XP y rac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499984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453128"/>
            <a:ext cx="1865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Inicio: maestría, XP y racha</a:t>
            </a:r>
            <a:endParaRPr lang="en-US" sz="1100" dirty="0"/>
          </a:p>
        </p:txBody>
      </p:sp>
      <p:sp>
        <p:nvSpPr>
          <p:cNvPr id="6" name="sombra verificador.png"/>
          <p:cNvSpPr/>
          <p:nvPr/>
        </p:nvSpPr>
        <p:spPr>
          <a:xfrm>
            <a:off x="3347072" y="1161288"/>
            <a:ext cx="1499984" cy="324612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captura verificador.png" descr="Captura de la app: Verificador de contraseñ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064" y="1097280"/>
            <a:ext cx="1499984" cy="3246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100184" y="4453128"/>
            <a:ext cx="1865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Verificador de contraseñas</a:t>
            </a:r>
            <a:endParaRPr lang="en-US" sz="1100" dirty="0"/>
          </a:p>
        </p:txBody>
      </p:sp>
      <p:sp>
        <p:nvSpPr>
          <p:cNvPr id="9" name="sombra privacidad.png"/>
          <p:cNvSpPr/>
          <p:nvPr/>
        </p:nvSpPr>
        <p:spPr>
          <a:xfrm>
            <a:off x="6081497" y="1161288"/>
            <a:ext cx="1499984" cy="32461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captura privacidad.png" descr="Captura de la app: Guía de privacid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7489" y="1097280"/>
            <a:ext cx="1499984" cy="3246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834609" y="4453128"/>
            <a:ext cx="1865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Guía de privacidad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practica y gana</a:t>
            </a:r>
            <a:endParaRPr lang="en-US" sz="2800" dirty="0"/>
          </a:p>
        </p:txBody>
      </p:sp>
      <p:sp>
        <p:nvSpPr>
          <p:cNvPr id="3" name="sombra retro.png"/>
          <p:cNvSpPr/>
          <p:nvPr/>
        </p:nvSpPr>
        <p:spPr>
          <a:xfrm>
            <a:off x="612648" y="1161288"/>
            <a:ext cx="1499984" cy="32461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captura retro.png" descr="Captura de la app: Simul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499984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4453128"/>
            <a:ext cx="1865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</a:t>
            </a:r>
            <a:endParaRPr lang="en-US" sz="1100" dirty="0"/>
          </a:p>
        </p:txBody>
      </p:sp>
      <p:sp>
        <p:nvSpPr>
          <p:cNvPr id="6" name="sombra retos.png"/>
          <p:cNvSpPr/>
          <p:nvPr/>
        </p:nvSpPr>
        <p:spPr>
          <a:xfrm>
            <a:off x="3347072" y="1161288"/>
            <a:ext cx="1499984" cy="32461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7" name="captura retos.png" descr="Captura de la app: Retos: 3 mun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064" y="1097280"/>
            <a:ext cx="1499984" cy="3246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100184" y="4453128"/>
            <a:ext cx="1865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Retos: 3 mundos</a:t>
            </a:r>
            <a:endParaRPr lang="en-US" sz="1100" dirty="0"/>
          </a:p>
        </p:txBody>
      </p:sp>
      <p:sp>
        <p:nvSpPr>
          <p:cNvPr id="9" name="sombra certificado.png"/>
          <p:cNvSpPr/>
          <p:nvPr/>
        </p:nvSpPr>
        <p:spPr>
          <a:xfrm>
            <a:off x="6081497" y="1161288"/>
            <a:ext cx="1499984" cy="324612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captura certificado.png" descr="Captura de la app: Certificado fin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7489" y="1097280"/>
            <a:ext cx="1499984" cy="3246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834609" y="4453128"/>
            <a:ext cx="1865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final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Gamificación</a:t>
            </a:r>
            <a:endParaRPr lang="en-US" sz="2800" dirty="0"/>
          </a:p>
        </p:txBody>
      </p:sp>
      <p:sp>
        <p:nvSpPr>
          <p:cNvPr id="3" name="premio XP por escenario sombra"/>
          <p:cNvSpPr/>
          <p:nvPr/>
        </p:nvSpPr>
        <p:spPr>
          <a:xfrm>
            <a:off x="521208" y="1252728"/>
            <a:ext cx="2587752" cy="1417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premio XP por escenario"/>
          <p:cNvSpPr/>
          <p:nvPr/>
        </p:nvSpPr>
        <p:spPr>
          <a:xfrm>
            <a:off x="457200" y="1188720"/>
            <a:ext cx="2587752" cy="14173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por escenario</a:t>
            </a:r>
            <a:endParaRPr lang="en-US" sz="1400" dirty="0"/>
          </a:p>
        </p:txBody>
      </p:sp>
      <p:sp>
        <p:nvSpPr>
          <p:cNvPr id="7" name="premio XP por reto sombra"/>
          <p:cNvSpPr/>
          <p:nvPr/>
        </p:nvSpPr>
        <p:spPr>
          <a:xfrm>
            <a:off x="3328416" y="1252728"/>
            <a:ext cx="2587752" cy="14173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premio XP por reto"/>
          <p:cNvSpPr/>
          <p:nvPr/>
        </p:nvSpPr>
        <p:spPr>
          <a:xfrm>
            <a:off x="3264408" y="1188720"/>
            <a:ext cx="2587752" cy="14173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+15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por reto</a:t>
            </a:r>
            <a:endParaRPr lang="en-US" sz="1400" dirty="0"/>
          </a:p>
        </p:txBody>
      </p:sp>
      <p:sp>
        <p:nvSpPr>
          <p:cNvPr id="11" name="premio XP por misión sombra"/>
          <p:cNvSpPr/>
          <p:nvPr/>
        </p:nvSpPr>
        <p:spPr>
          <a:xfrm>
            <a:off x="6135624" y="1252728"/>
            <a:ext cx="2587752" cy="141732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premio XP por misión"/>
          <p:cNvSpPr/>
          <p:nvPr/>
        </p:nvSpPr>
        <p:spPr>
          <a:xfrm>
            <a:off x="6071616" y="1188720"/>
            <a:ext cx="2587752" cy="14173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54496" y="1280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254496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por misión</a:t>
            </a:r>
            <a:endParaRPr lang="en-US" sz="1400" dirty="0"/>
          </a:p>
        </p:txBody>
      </p:sp>
      <p:pic>
        <p:nvPicPr>
          <p:cNvPr id="15" name="icono fuego" descr="Ícono fue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71800"/>
            <a:ext cx="411480" cy="4114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051560" y="29718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Racha: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seguidos con al menos una actividad, como en Duolingo.</a:t>
            </a:r>
            <a:endParaRPr lang="en-US" sz="1400" dirty="0"/>
          </a:p>
        </p:txBody>
      </p:sp>
      <p:pic>
        <p:nvPicPr>
          <p:cNvPr id="17" name="icono estrella" descr="Ícono est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566160"/>
            <a:ext cx="411480" cy="41148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51560" y="35661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niveles: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Novato → Explorador → Protector → Guardián → Experto → Maestro.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14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del juego: 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XP tiene tope (670). Al dominar todo se gana el certificado y el rango Maestro.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</a:t>
            </a:r>
            <a:endParaRPr lang="en-US" sz="2800" dirty="0"/>
          </a:p>
        </p:txBody>
      </p:sp>
      <p:sp>
        <p:nvSpPr>
          <p:cNvPr id="3" name="index sombra"/>
          <p:cNvSpPr/>
          <p:nvPr/>
        </p:nvSpPr>
        <p:spPr>
          <a:xfrm>
            <a:off x="521208" y="1252728"/>
            <a:ext cx="2011680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index"/>
          <p:cNvSpPr/>
          <p:nvPr/>
        </p:nvSpPr>
        <p:spPr>
          <a:xfrm>
            <a:off x="457200" y="1188720"/>
            <a:ext cx="2011680" cy="73152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8016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 · 8 secciones</a:t>
            </a:r>
            <a:endParaRPr lang="en-US" sz="1400" dirty="0"/>
          </a:p>
        </p:txBody>
      </p:sp>
      <p:sp>
        <p:nvSpPr>
          <p:cNvPr id="6" name="modulo mascot.js sombra"/>
          <p:cNvSpPr/>
          <p:nvPr/>
        </p:nvSpPr>
        <p:spPr>
          <a:xfrm>
            <a:off x="2990088" y="1252728"/>
            <a:ext cx="1737360" cy="640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modulo mascot.js"/>
          <p:cNvSpPr/>
          <p:nvPr/>
        </p:nvSpPr>
        <p:spPr>
          <a:xfrm>
            <a:off x="2926080" y="1188720"/>
            <a:ext cx="1737360" cy="6400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17520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mascot.js</a:t>
            </a:r>
            <a:endParaRPr lang="en-US" sz="1300" dirty="0"/>
          </a:p>
        </p:txBody>
      </p:sp>
      <p:sp>
        <p:nvSpPr>
          <p:cNvPr id="9" name="modulo password.js sombra"/>
          <p:cNvSpPr/>
          <p:nvPr/>
        </p:nvSpPr>
        <p:spPr>
          <a:xfrm>
            <a:off x="4956048" y="1252728"/>
            <a:ext cx="1737360" cy="640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modulo password.js"/>
          <p:cNvSpPr/>
          <p:nvPr/>
        </p:nvSpPr>
        <p:spPr>
          <a:xfrm>
            <a:off x="4892040" y="1188720"/>
            <a:ext cx="1737360" cy="6400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password.js</a:t>
            </a:r>
            <a:endParaRPr lang="en-US" sz="1300" dirty="0"/>
          </a:p>
        </p:txBody>
      </p:sp>
      <p:sp>
        <p:nvSpPr>
          <p:cNvPr id="12" name="modulo simulator.js sombra"/>
          <p:cNvSpPr/>
          <p:nvPr/>
        </p:nvSpPr>
        <p:spPr>
          <a:xfrm>
            <a:off x="6922008" y="1252728"/>
            <a:ext cx="1737360" cy="640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modulo simulator.js"/>
          <p:cNvSpPr/>
          <p:nvPr/>
        </p:nvSpPr>
        <p:spPr>
          <a:xfrm>
            <a:off x="6858000" y="1188720"/>
            <a:ext cx="1737360" cy="6400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simulator.js</a:t>
            </a:r>
            <a:endParaRPr lang="en-US" sz="1300" dirty="0"/>
          </a:p>
        </p:txBody>
      </p:sp>
      <p:sp>
        <p:nvSpPr>
          <p:cNvPr id="15" name="modulo quiz.js sombra"/>
          <p:cNvSpPr/>
          <p:nvPr/>
        </p:nvSpPr>
        <p:spPr>
          <a:xfrm>
            <a:off x="2990088" y="2121408"/>
            <a:ext cx="1737360" cy="640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modulo quiz.js"/>
          <p:cNvSpPr/>
          <p:nvPr/>
        </p:nvSpPr>
        <p:spPr>
          <a:xfrm>
            <a:off x="2926080" y="2057400"/>
            <a:ext cx="1737360" cy="6400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17520" y="2057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quiz.js</a:t>
            </a:r>
            <a:endParaRPr lang="en-US" sz="1300" dirty="0"/>
          </a:p>
        </p:txBody>
      </p:sp>
      <p:sp>
        <p:nvSpPr>
          <p:cNvPr id="18" name="modulo tasks.js sombra"/>
          <p:cNvSpPr/>
          <p:nvPr/>
        </p:nvSpPr>
        <p:spPr>
          <a:xfrm>
            <a:off x="4956048" y="2121408"/>
            <a:ext cx="1737360" cy="640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modulo tasks.js"/>
          <p:cNvSpPr/>
          <p:nvPr/>
        </p:nvSpPr>
        <p:spPr>
          <a:xfrm>
            <a:off x="4892040" y="2057400"/>
            <a:ext cx="1737360" cy="6400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83480" y="2057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tasks.js</a:t>
            </a:r>
            <a:endParaRPr lang="en-US" sz="1300" dirty="0"/>
          </a:p>
        </p:txBody>
      </p:sp>
      <p:sp>
        <p:nvSpPr>
          <p:cNvPr id="21" name="modulo app.js sombra"/>
          <p:cNvSpPr/>
          <p:nvPr/>
        </p:nvSpPr>
        <p:spPr>
          <a:xfrm>
            <a:off x="6922008" y="2121408"/>
            <a:ext cx="1737360" cy="640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modulo app.js"/>
          <p:cNvSpPr/>
          <p:nvPr/>
        </p:nvSpPr>
        <p:spPr>
          <a:xfrm>
            <a:off x="6858000" y="2057400"/>
            <a:ext cx="1737360" cy="6400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49440" y="2057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app.js</a:t>
            </a:r>
            <a:endParaRPr lang="en-US" sz="1300" dirty="0"/>
          </a:p>
        </p:txBody>
      </p:sp>
      <p:sp>
        <p:nvSpPr>
          <p:cNvPr id="24" name="flecha"/>
          <p:cNvSpPr/>
          <p:nvPr/>
        </p:nvSpPr>
        <p:spPr>
          <a:xfrm>
            <a:off x="2514600" y="1554480"/>
            <a:ext cx="36576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5" name="guardado sombra"/>
          <p:cNvSpPr/>
          <p:nvPr/>
        </p:nvSpPr>
        <p:spPr>
          <a:xfrm>
            <a:off x="521208" y="3127248"/>
            <a:ext cx="3931920" cy="13258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guardado"/>
          <p:cNvSpPr/>
          <p:nvPr/>
        </p:nvSpPr>
        <p:spPr>
          <a:xfrm>
            <a:off x="457200" y="3063240"/>
            <a:ext cx="3931920" cy="13258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4"/>
            </a:solidFill>
            <a:prstDash val="solid"/>
          </a:ln>
        </p:spPr>
      </p:sp>
      <p:pic>
        <p:nvPicPr>
          <p:cNvPr id="27" name="icono lista" descr="Ícono li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365760" cy="3657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143000" y="3200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 (solo en el celular)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XP, racha y tareas. Nada más.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verificador trabaja solo en memoria.</a:t>
            </a:r>
            <a:endParaRPr lang="en-US" sz="1300" dirty="0"/>
          </a:p>
        </p:txBody>
      </p:sp>
      <p:sp>
        <p:nvSpPr>
          <p:cNvPr id="29" name="distribucion sombra"/>
          <p:cNvSpPr/>
          <p:nvPr/>
        </p:nvSpPr>
        <p:spPr>
          <a:xfrm>
            <a:off x="4818888" y="3127248"/>
            <a:ext cx="3931920" cy="1325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distribucion"/>
          <p:cNvSpPr/>
          <p:nvPr/>
        </p:nvSpPr>
        <p:spPr>
          <a:xfrm>
            <a:off x="4754880" y="3063240"/>
            <a:ext cx="3931920" cy="132588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3"/>
            </a:solidFill>
            <a:prstDash val="solid"/>
          </a:ln>
        </p:spPr>
      </p:sp>
      <p:pic>
        <p:nvPicPr>
          <p:cNvPr id="31" name="icono rayo" descr="Ícono ray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200400"/>
            <a:ext cx="365760" cy="36576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440680" y="3200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base, dos formas de usarla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 APK con Capacitor (GitHub lo compila).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 y PC: versión web instalable.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Uso de inteligencia artificial</a:t>
            </a:r>
            <a:endParaRPr lang="en-US" sz="2800" dirty="0"/>
          </a:p>
        </p:txBody>
      </p:sp>
      <p:sp>
        <p:nvSpPr>
          <p:cNvPr id="3" name="ia sombra"/>
          <p:cNvSpPr/>
          <p:nvPr/>
        </p:nvSpPr>
        <p:spPr>
          <a:xfrm>
            <a:off x="521208" y="1252728"/>
            <a:ext cx="3977640" cy="25146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ia"/>
          <p:cNvSpPr/>
          <p:nvPr/>
        </p:nvSpPr>
        <p:spPr>
          <a:xfrm>
            <a:off x="457200" y="1188720"/>
            <a:ext cx="3977640" cy="251460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IA (Claude Opus 5.5)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Señaló problemas del prompt antes de programar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Generó el código, la mascota y los textos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Escribió 62 pruebas automáticas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Redactó la documentación base</a:t>
            </a:r>
            <a:endParaRPr lang="en-US" sz="1300" dirty="0"/>
          </a:p>
        </p:txBody>
      </p:sp>
      <p:sp>
        <p:nvSpPr>
          <p:cNvPr id="7" name="equipo sombra"/>
          <p:cNvSpPr/>
          <p:nvPr/>
        </p:nvSpPr>
        <p:spPr>
          <a:xfrm>
            <a:off x="4773168" y="1252728"/>
            <a:ext cx="3977640" cy="25146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equipo"/>
          <p:cNvSpPr/>
          <p:nvPr/>
        </p:nvSpPr>
        <p:spPr>
          <a:xfrm>
            <a:off x="4709160" y="1188720"/>
            <a:ext cx="3977640" cy="2514600"/>
          </a:xfrm>
          <a:prstGeom prst="rect">
            <a:avLst/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Nuestro equipo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78308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Definimos la idea, la mascota y la rúbrica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Tomamos las decisiones clave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Revisamos el contenido y lo probamos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Registramos todo en la Bitácora de IA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IA es una herramienta: la responsabilidad de revisar y decidir es del equipo.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Conclusiones</a:t>
            </a:r>
            <a:endParaRPr lang="en-US" sz="2800" dirty="0"/>
          </a:p>
        </p:txBody>
      </p:sp>
      <p:pic>
        <p:nvPicPr>
          <p:cNvPr id="3" name="icono estrella" descr="Ícono est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12344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tema serio se puede enseñar jugando sin perder rigor.</a:t>
            </a:r>
            <a:endParaRPr lang="en-US" sz="1500" dirty="0"/>
          </a:p>
        </p:txBody>
      </p:sp>
      <p:pic>
        <p:nvPicPr>
          <p:cNvPr id="5" name="icono candado" descr="Ícono cand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4028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2194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Privacidad desde el diseño: la herramienta de contraseñas es la que nunca guarda nada.</a:t>
            </a:r>
            <a:endParaRPr lang="en-US" sz="1500" dirty="0"/>
          </a:p>
        </p:txBody>
      </p:sp>
      <p:pic>
        <p:nvPicPr>
          <p:cNvPr id="7" name="icono chat" descr="Ícono ch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00400"/>
            <a:ext cx="457200" cy="4572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88720" y="31546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Practicar con mensajes falsos prepara para los reales.</a:t>
            </a:r>
            <a:endParaRPr lang="en-US" sz="1500" dirty="0"/>
          </a:p>
        </p:txBody>
      </p:sp>
      <p:pic>
        <p:nvPicPr>
          <p:cNvPr id="9" name="mascota" descr="Mascota de CiberEscu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97280"/>
            <a:ext cx="2011680" cy="235000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03504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¿Preguntas?</a:t>
            </a:r>
            <a:endParaRPr lang="en-US" sz="2600" dirty="0"/>
          </a:p>
        </p:txBody>
      </p:sp>
      <p:sp>
        <p:nvSpPr>
          <p:cNvPr id="11" name="Text 5"/>
          <p:cNvSpPr txBox="1"/>
          <p:nvPr/>
        </p:nvSpPr>
        <p:spPr>
          <a:xfrm>
            <a:off x="50292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paso: probarla con estudiantes reales y agregar un modo para el profesor.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berEscudo">
  <a:themeElements>
    <a:clrScheme name="CiberEscudo">
      <a:dk1>
        <a:srgbClr val="0B0716"/>
      </a:dk1>
      <a:lt1>
        <a:srgbClr val="FFFFFF"/>
      </a:lt1>
      <a:dk2>
        <a:srgbClr val="1F1536"/>
      </a:dk2>
      <a:lt2>
        <a:srgbClr val="F3ECFF"/>
      </a:lt2>
      <a:accent1>
        <a:srgbClr val="FF3D9A"/>
      </a:accent1>
      <a:accent2>
        <a:srgbClr val="22E6F2"/>
      </a:accent2>
      <a:accent3>
        <a:srgbClr val="FFD93B"/>
      </a:accent3>
      <a:accent4>
        <a:srgbClr val="3EE38F"/>
      </a:accent4>
      <a:accent5>
        <a:srgbClr val="FF5F5F"/>
      </a:accent5>
      <a:accent6>
        <a:srgbClr val="C3B6E3"/>
      </a:accent6>
      <a:hlink>
        <a:srgbClr val="22E6F2"/>
      </a:hlink>
      <a:folHlink>
        <a:srgbClr val="FF3D9A"/>
      </a:folHlink>
    </a:clrScheme>
    <a:fontScheme name="CiberEscudo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CiberEscudo · Guion de la presentación</dc:title>
  <dc:subject>PptxGenJS Presentation</dc:subject>
  <dc:creator>Equipo CiberEscudo</dc:creator>
  <cp:lastModifiedBy>Equipo CiberEscudo</cp:lastModifiedBy>
  <cp:revision>1</cp:revision>
  <dcterms:created xsi:type="dcterms:W3CDTF">2026-10-28T02:45:59Z</dcterms:created>
  <dcterms:modified xsi:type="dcterms:W3CDTF">2026-10-28T02:45:59Z</dcterms:modified>
</cp:coreProperties>
</file>