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8634737-a17d-a75c-399e-a87140e0c3a6}">
          <p14:sldIdLst>
            <p14:sldId id="256"/>
            <p14:sldId id="257"/>
            <p14:sldId id="258"/>
          </p14:sldIdLst>
        </p14:section>
        <p14:section name="Producto" id="{0c384f8a-f511-cfc4-1b4a-7a57e69a77ac}">
          <p14:sldIdLst>
            <p14:sldId id="259"/>
            <p14:sldId id="260"/>
            <p14:sldId id="261"/>
            <p14:sldId id="262"/>
          </p14:sldIdLst>
        </p14:section>
        <p14:section name="Técnica" id="{0d0309e3-eb2c-461f-1823-f8dc8d6acdcf}">
          <p14:sldIdLst>
            <p14:sldId id="263"/>
            <p14:sldId id="264"/>
          </p14:sldIdLst>
        </p14:section>
        <p14:section name="Cierre" id="{37ce558b-b9bb-f4fa-ecd5-f94d1e230fa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y presentación del equipo. «Somos el equipo ___ y les presentamos CiberEscudo, una app para aprender seguridad digital como si fuera un videojuego.» Duración: unos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los seis problemas: cuatro de seguridad digital y dos de convivencia (bullying y ciberacoso). Remarcar que nunca es culpa de las víctimas. Duración: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se organiza en tres ideas: aprender, practicar y actuar, para la seguridad digital y para la convivencia (en línea y en persona). Mencionar que funciona sin internet y no pide cuentas ni datos. Duración: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el diseño: no es por gusto, es para atraer al público. Explicar que la mascota se dibujó con código (un mapa de letras que se convierte en cuadritos SVG). Duración: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 con el celular si se puede. Inicio: la mascota y el progreso. Verificador: escribir «teamo123» (muy débil) y luego una frase larga (muy fuerte). Recalcar que la contraseña nunca se guarda. Duración: 1.5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tocar la flor para que cante; contestar un escenario del simulador y ver cómo celebra la mascota; abrir «Más → Convivencia» y mostrar los 3 pasos (en línea y en persona) y un escenario del paquete «En la escuela». En Plan de acción, crear, editar, marcar y borrar una tarea y recargar para demostrar que se guardó. Abrir «Más → Certificado» para mostrar los requisitos. Duración: 1.5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gamificamos: las recompensas pequeñas y la racha hacen que vuelvas. Aclarar que el XP tiene tope y que la meta es el certificado: al dominar 30 retos, 12 escenarios, 7 lecciones y 5 misiones de seguridad, la app considera que ya sabes de seguridad digital. Duración: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HTML, CSS y JavaScript sin frameworks ni librerías. Cada archivo tiene una tarea. Solo se guarda el progreso y las tareas; el verificador nunca guarda nada (hay una prueba automática que lo revisa). Duración: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honestos sobre qué hizo la IA y qué hicimos nosotros. Mencionar un ajuste manual concreto que hayan hecho (anótenlo en la Bitácora). Duración: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principales y el lema: «CiberEscudo: aprende jugando, protégete de verdad». Abrir espacio para preguntas. Duración: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CiberEscudo · Preparatoria «Lázaro Cárdenas»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cota" descr="Mascota de CiberEscudo: flor rosa pixelada con lentes oscuros y una mariposa azu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3108960" cy="3630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23360" y="1188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CIBERESCUDO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0233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Aprende seguridad digital jugando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02336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digital y convivencia para estudiantes de 15 a 18 años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Preparatoria «Lázaro Cárdenas»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problemática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15 a 18 años usan el celular a diario. Los riesgos están en sus cuentas y también en cómo se tratan, en línea y en la escuela.</a:t>
            </a:r>
            <a:endParaRPr lang="en-US" sz="1500" dirty="0"/>
          </a:p>
        </p:txBody>
      </p:sp>
      <p:sp>
        <p:nvSpPr>
          <p:cNvPr id="5" name="problema Contraseñas débiles sombra"/>
          <p:cNvSpPr/>
          <p:nvPr/>
        </p:nvSpPr>
        <p:spPr>
          <a:xfrm>
            <a:off x="3904488" y="1252728"/>
            <a:ext cx="2286000" cy="9601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problema Contraseñas débiles"/>
          <p:cNvSpPr/>
          <p:nvPr/>
        </p:nvSpPr>
        <p:spPr>
          <a:xfrm>
            <a:off x="3840480" y="1188720"/>
            <a:ext cx="2286000" cy="960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</p:spPr>
      </p:sp>
      <p:pic>
        <p:nvPicPr>
          <p:cNvPr id="7" name="icono candado" descr="Ícono can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13533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48056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Contraseñas débiles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005072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Cortas, comunes o repetidas</a:t>
            </a:r>
            <a:endParaRPr lang="en-US" sz="1100" dirty="0"/>
          </a:p>
        </p:txBody>
      </p:sp>
      <p:sp>
        <p:nvSpPr>
          <p:cNvPr id="10" name="problema Suplantación sombra"/>
          <p:cNvSpPr/>
          <p:nvPr/>
        </p:nvSpPr>
        <p:spPr>
          <a:xfrm>
            <a:off x="6419088" y="1252728"/>
            <a:ext cx="2286000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roblema Suplantación"/>
          <p:cNvSpPr/>
          <p:nvPr/>
        </p:nvSpPr>
        <p:spPr>
          <a:xfrm>
            <a:off x="6355080" y="1188720"/>
            <a:ext cx="2286000" cy="960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2" name="icono chat" descr="Ícono ch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3533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9516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Suplantación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y números falsos</a:t>
            </a:r>
            <a:endParaRPr lang="en-US" sz="1100" dirty="0"/>
          </a:p>
        </p:txBody>
      </p:sp>
      <p:sp>
        <p:nvSpPr>
          <p:cNvPr id="15" name="problema Robo de cuentas sombra"/>
          <p:cNvSpPr/>
          <p:nvPr/>
        </p:nvSpPr>
        <p:spPr>
          <a:xfrm>
            <a:off x="3904488" y="2350008"/>
            <a:ext cx="2286000" cy="9601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problema Robo de cuentas"/>
          <p:cNvSpPr/>
          <p:nvPr/>
        </p:nvSpPr>
        <p:spPr>
          <a:xfrm>
            <a:off x="3840480" y="2286000"/>
            <a:ext cx="2286000" cy="960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pic>
        <p:nvPicPr>
          <p:cNvPr id="17" name="icono alerta" descr="Ícono aler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245059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8056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 de cuentas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00507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y códigos compartidos</a:t>
            </a:r>
            <a:endParaRPr lang="en-US" sz="1100" dirty="0"/>
          </a:p>
        </p:txBody>
      </p:sp>
      <p:sp>
        <p:nvSpPr>
          <p:cNvPr id="20" name="problema Fotos sin permiso sombra"/>
          <p:cNvSpPr/>
          <p:nvPr/>
        </p:nvSpPr>
        <p:spPr>
          <a:xfrm>
            <a:off x="6419088" y="2350008"/>
            <a:ext cx="2286000" cy="960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problema Fotos sin permiso"/>
          <p:cNvSpPr/>
          <p:nvPr/>
        </p:nvSpPr>
        <p:spPr>
          <a:xfrm>
            <a:off x="6355080" y="2286000"/>
            <a:ext cx="2286000" cy="960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22" name="icono ojo" descr="Ícono oj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45059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9516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Fotos sin permiso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Fotos, stickers y videos</a:t>
            </a:r>
            <a:endParaRPr lang="en-US" sz="1100" dirty="0"/>
          </a:p>
        </p:txBody>
      </p:sp>
      <p:sp>
        <p:nvSpPr>
          <p:cNvPr id="25" name="problema Bullying sombra"/>
          <p:cNvSpPr/>
          <p:nvPr/>
        </p:nvSpPr>
        <p:spPr>
          <a:xfrm>
            <a:off x="3904488" y="3447288"/>
            <a:ext cx="2286000" cy="9601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roblema Bullying"/>
          <p:cNvSpPr/>
          <p:nvPr/>
        </p:nvSpPr>
        <p:spPr>
          <a:xfrm>
            <a:off x="3840480" y="3383280"/>
            <a:ext cx="2286000" cy="960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27" name="icono corazon" descr="Ícono coraz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354787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48056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Bullying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005072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Burlas, exclusión y agresiones</a:t>
            </a:r>
            <a:endParaRPr lang="en-US" sz="1100" dirty="0"/>
          </a:p>
        </p:txBody>
      </p:sp>
      <p:sp>
        <p:nvSpPr>
          <p:cNvPr id="30" name="problema Ciberacoso sombra"/>
          <p:cNvSpPr/>
          <p:nvPr/>
        </p:nvSpPr>
        <p:spPr>
          <a:xfrm>
            <a:off x="6419088" y="3447288"/>
            <a:ext cx="2286000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problema Ciberacoso"/>
          <p:cNvSpPr/>
          <p:nvPr/>
        </p:nvSpPr>
        <p:spPr>
          <a:xfrm>
            <a:off x="6355080" y="3383280"/>
            <a:ext cx="2286000" cy="960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32" name="icono corazon" descr="Ícono coraz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54787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9516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Ciberacoso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519672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Chats, rumores y amenazas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Nuestra propuesta</a:t>
            </a:r>
            <a:endParaRPr lang="en-US" sz="2800" dirty="0"/>
          </a:p>
        </p:txBody>
      </p:sp>
      <p:sp>
        <p:nvSpPr>
          <p:cNvPr id="3" name="pilar Aprende sombra"/>
          <p:cNvSpPr/>
          <p:nvPr/>
        </p:nvSpPr>
        <p:spPr>
          <a:xfrm>
            <a:off x="521208" y="1298448"/>
            <a:ext cx="2587752" cy="2606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ilar Aprende"/>
          <p:cNvSpPr/>
          <p:nvPr/>
        </p:nvSpPr>
        <p:spPr>
          <a:xfrm>
            <a:off x="457200" y="1234440"/>
            <a:ext cx="2587752" cy="2606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5" name="icono ojo" descr="Ícono oj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Aprende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de privacidad y convivencia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incidentes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 de contraseñas</a:t>
            </a:r>
            <a:endParaRPr lang="en-US" sz="1300" dirty="0"/>
          </a:p>
        </p:txBody>
      </p:sp>
      <p:sp>
        <p:nvSpPr>
          <p:cNvPr id="8" name="pilar Practica sombra"/>
          <p:cNvSpPr/>
          <p:nvPr/>
        </p:nvSpPr>
        <p:spPr>
          <a:xfrm>
            <a:off x="3328416" y="1298448"/>
            <a:ext cx="2587752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ilar Practica"/>
          <p:cNvSpPr/>
          <p:nvPr/>
        </p:nvSpPr>
        <p:spPr>
          <a:xfrm>
            <a:off x="3264408" y="1234440"/>
            <a:ext cx="2587752" cy="2606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0" name="icono chat" descr="Ícono ch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463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148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Simulador: 30 situaciones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retos en 4 mundos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· Prevenir · Actuar</a:t>
            </a:r>
            <a:endParaRPr lang="en-US" sz="1300" dirty="0"/>
          </a:p>
        </p:txBody>
      </p:sp>
      <p:sp>
        <p:nvSpPr>
          <p:cNvPr id="13" name="pilar Actúa sombra"/>
          <p:cNvSpPr/>
          <p:nvPr/>
        </p:nvSpPr>
        <p:spPr>
          <a:xfrm>
            <a:off x="6135624" y="1298448"/>
            <a:ext cx="2587752" cy="2606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ilar Actúa"/>
          <p:cNvSpPr/>
          <p:nvPr/>
        </p:nvSpPr>
        <p:spPr>
          <a:xfrm>
            <a:off x="6071616" y="1234440"/>
            <a:ext cx="2587752" cy="2606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15" name="icono lista" descr="Ícono lis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63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Actúa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148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misiones de seguridad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objetivos de convivencia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al dominar todo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y web  ·  funciona sin internet  ·  no recopila datos personales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Diseño: un videojuego retro</a:t>
            </a:r>
            <a:endParaRPr lang="en-US" sz="2800" dirty="0"/>
          </a:p>
        </p:txBody>
      </p:sp>
      <p:pic>
        <p:nvPicPr>
          <p:cNvPr id="3" name="mascota" descr="Mascota de CiberEscu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011680" cy="2350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Canta, celebra tus aciertos y te acompaña por la app como una florecita que habla con balbuceos.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108960" y="12344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art y cyberpunk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Inspirado en videojuegos retro: habla el idioma visual de los jóvenes.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duros y sombras sólidas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esquinas redondas, con líneas de escaneo y un glitch sutil.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para una mano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de 48 px o más y navegación al alcance del pulgar.</a:t>
            </a:r>
            <a:endParaRPr lang="en-US" sz="1300" dirty="0"/>
          </a:p>
        </p:txBody>
      </p:sp>
      <p:sp>
        <p:nvSpPr>
          <p:cNvPr id="6" name="color Rosa"/>
          <p:cNvSpPr/>
          <p:nvPr/>
        </p:nvSpPr>
        <p:spPr>
          <a:xfrm>
            <a:off x="6766560" y="1234440"/>
            <a:ext cx="594360" cy="594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#FF3D9A</a:t>
            </a:r>
            <a:endParaRPr lang="en-US" sz="1300" dirty="0"/>
          </a:p>
        </p:txBody>
      </p:sp>
      <p:sp>
        <p:nvSpPr>
          <p:cNvPr id="8" name="color Cian"/>
          <p:cNvSpPr/>
          <p:nvPr/>
        </p:nvSpPr>
        <p:spPr>
          <a:xfrm>
            <a:off x="6766560" y="2011680"/>
            <a:ext cx="594360" cy="594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20391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#22E6F2</a:t>
            </a:r>
            <a:endParaRPr lang="en-US" sz="1300" dirty="0"/>
          </a:p>
        </p:txBody>
      </p:sp>
      <p:sp>
        <p:nvSpPr>
          <p:cNvPr id="10" name="color Amarillo"/>
          <p:cNvSpPr/>
          <p:nvPr/>
        </p:nvSpPr>
        <p:spPr>
          <a:xfrm>
            <a:off x="6766560" y="2788920"/>
            <a:ext cx="594360" cy="594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28163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Amarillo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#FFD93B</a:t>
            </a:r>
            <a:endParaRPr lang="en-US" sz="1300" dirty="0"/>
          </a:p>
        </p:txBody>
      </p:sp>
      <p:sp>
        <p:nvSpPr>
          <p:cNvPr id="12" name="color Fondo"/>
          <p:cNvSpPr/>
          <p:nvPr/>
        </p:nvSpPr>
        <p:spPr>
          <a:xfrm>
            <a:off x="6766560" y="3566160"/>
            <a:ext cx="594360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35935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Fondo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#1F1536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aprende</a:t>
            </a:r>
            <a:endParaRPr lang="en-US" sz="2800" dirty="0"/>
          </a:p>
        </p:txBody>
      </p:sp>
      <p:sp>
        <p:nvSpPr>
          <p:cNvPr id="3" name="sombra inicio.png"/>
          <p:cNvSpPr/>
          <p:nvPr/>
        </p:nvSpPr>
        <p:spPr>
          <a:xfrm>
            <a:off x="612648" y="1161288"/>
            <a:ext cx="1499984" cy="32461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captura inicio.png" descr="Captura de la app: Inicio: maestría, XP y rac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499984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453128"/>
            <a:ext cx="186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Inicio: maestría, XP y racha</a:t>
            </a:r>
            <a:endParaRPr lang="en-US" sz="1100" dirty="0"/>
          </a:p>
        </p:txBody>
      </p:sp>
      <p:sp>
        <p:nvSpPr>
          <p:cNvPr id="6" name="sombra verificador.png"/>
          <p:cNvSpPr/>
          <p:nvPr/>
        </p:nvSpPr>
        <p:spPr>
          <a:xfrm>
            <a:off x="3347072" y="1161288"/>
            <a:ext cx="1499984" cy="3246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captura verificador.png" descr="Captura de la app: Verificador de contraseñ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064" y="1097280"/>
            <a:ext cx="1499984" cy="3246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00184" y="4453128"/>
            <a:ext cx="186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 de contraseñas</a:t>
            </a:r>
            <a:endParaRPr lang="en-US" sz="1100" dirty="0"/>
          </a:p>
        </p:txBody>
      </p:sp>
      <p:sp>
        <p:nvSpPr>
          <p:cNvPr id="9" name="sombra privacidad.png"/>
          <p:cNvSpPr/>
          <p:nvPr/>
        </p:nvSpPr>
        <p:spPr>
          <a:xfrm>
            <a:off x="6081497" y="1161288"/>
            <a:ext cx="1499984" cy="3246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aptura privacidad.png" descr="Captura de la app: Guía de privacid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489" y="1097280"/>
            <a:ext cx="1499984" cy="3246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34609" y="4453128"/>
            <a:ext cx="186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privacidad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practica y gana</a:t>
            </a:r>
            <a:endParaRPr lang="en-US" sz="2800" dirty="0"/>
          </a:p>
        </p:txBody>
      </p:sp>
      <p:sp>
        <p:nvSpPr>
          <p:cNvPr id="3" name="sombra retro.png"/>
          <p:cNvSpPr/>
          <p:nvPr/>
        </p:nvSpPr>
        <p:spPr>
          <a:xfrm>
            <a:off x="612648" y="1161288"/>
            <a:ext cx="1499984" cy="3246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aptura retro.png" descr="Captura de la app: Simul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499984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453128"/>
            <a:ext cx="186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</a:t>
            </a:r>
            <a:endParaRPr lang="en-US" sz="1100" dirty="0"/>
          </a:p>
        </p:txBody>
      </p:sp>
      <p:sp>
        <p:nvSpPr>
          <p:cNvPr id="6" name="sombra convivencia.png"/>
          <p:cNvSpPr/>
          <p:nvPr/>
        </p:nvSpPr>
        <p:spPr>
          <a:xfrm>
            <a:off x="3347072" y="1161288"/>
            <a:ext cx="1499984" cy="32461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captura convivencia.png" descr="Captura de la app: Convivencia: 3 pa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064" y="1097280"/>
            <a:ext cx="1499984" cy="3246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00184" y="4453128"/>
            <a:ext cx="186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Convivencia: 3 pasos</a:t>
            </a:r>
            <a:endParaRPr lang="en-US" sz="1100" dirty="0"/>
          </a:p>
        </p:txBody>
      </p:sp>
      <p:sp>
        <p:nvSpPr>
          <p:cNvPr id="9" name="sombra certificado.png"/>
          <p:cNvSpPr/>
          <p:nvPr/>
        </p:nvSpPr>
        <p:spPr>
          <a:xfrm>
            <a:off x="6081497" y="1161288"/>
            <a:ext cx="1499984" cy="32461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captura certificado.png" descr="Captura de la app: Certificado fi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489" y="1097280"/>
            <a:ext cx="1499984" cy="3246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34609" y="4453128"/>
            <a:ext cx="186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final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Gamificación</a:t>
            </a:r>
            <a:endParaRPr lang="en-US" sz="2800" dirty="0"/>
          </a:p>
        </p:txBody>
      </p:sp>
      <p:sp>
        <p:nvSpPr>
          <p:cNvPr id="3" name="premio XP por escenario sombra"/>
          <p:cNvSpPr/>
          <p:nvPr/>
        </p:nvSpPr>
        <p:spPr>
          <a:xfrm>
            <a:off x="521208" y="1252728"/>
            <a:ext cx="2587752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remio XP por escenario"/>
          <p:cNvSpPr/>
          <p:nvPr/>
        </p:nvSpPr>
        <p:spPr>
          <a:xfrm>
            <a:off x="457200" y="1188720"/>
            <a:ext cx="2587752" cy="14173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por escenario</a:t>
            </a:r>
            <a:endParaRPr lang="en-US" sz="1400" dirty="0"/>
          </a:p>
        </p:txBody>
      </p:sp>
      <p:sp>
        <p:nvSpPr>
          <p:cNvPr id="7" name="premio XP por reto sombra"/>
          <p:cNvSpPr/>
          <p:nvPr/>
        </p:nvSpPr>
        <p:spPr>
          <a:xfrm>
            <a:off x="3328416" y="1252728"/>
            <a:ext cx="2587752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remio XP por reto"/>
          <p:cNvSpPr/>
          <p:nvPr/>
        </p:nvSpPr>
        <p:spPr>
          <a:xfrm>
            <a:off x="3264408" y="1188720"/>
            <a:ext cx="2587752" cy="14173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por reto</a:t>
            </a:r>
            <a:endParaRPr lang="en-US" sz="1400" dirty="0"/>
          </a:p>
        </p:txBody>
      </p:sp>
      <p:sp>
        <p:nvSpPr>
          <p:cNvPr id="11" name="premio XP por misión sombra"/>
          <p:cNvSpPr/>
          <p:nvPr/>
        </p:nvSpPr>
        <p:spPr>
          <a:xfrm>
            <a:off x="6135624" y="1252728"/>
            <a:ext cx="2587752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remio XP por misión"/>
          <p:cNvSpPr/>
          <p:nvPr/>
        </p:nvSpPr>
        <p:spPr>
          <a:xfrm>
            <a:off x="6071616" y="1188720"/>
            <a:ext cx="2587752" cy="14173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4496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por misión</a:t>
            </a:r>
            <a:endParaRPr lang="en-US" sz="1400" dirty="0"/>
          </a:p>
        </p:txBody>
      </p:sp>
      <p:pic>
        <p:nvPicPr>
          <p:cNvPr id="15" name="icono fuego" descr="Ícono fue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7180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51560" y="2971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Racha: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seguidos con al menos una actividad, como en Duolingo.</a:t>
            </a:r>
            <a:endParaRPr lang="en-US" sz="1400" dirty="0"/>
          </a:p>
        </p:txBody>
      </p:sp>
      <p:pic>
        <p:nvPicPr>
          <p:cNvPr id="17" name="icono estrella" descr="Ícono estr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661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51560" y="3566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niveles: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Novato → Explorador → Protector → Guardián → Experto → Maestro.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51560" y="4114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 juego: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XP tiene tope (1000). Al dominar todo se gana el certificado y el rango Maestro.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endParaRPr lang="en-US" sz="2800" dirty="0"/>
          </a:p>
        </p:txBody>
      </p:sp>
      <p:sp>
        <p:nvSpPr>
          <p:cNvPr id="3" name="index sombra"/>
          <p:cNvSpPr/>
          <p:nvPr/>
        </p:nvSpPr>
        <p:spPr>
          <a:xfrm>
            <a:off x="521208" y="1252728"/>
            <a:ext cx="201168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ndex"/>
          <p:cNvSpPr/>
          <p:nvPr/>
        </p:nvSpPr>
        <p:spPr>
          <a:xfrm>
            <a:off x="457200" y="1188720"/>
            <a:ext cx="2011680" cy="731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 · 9 secciones</a:t>
            </a:r>
            <a:endParaRPr lang="en-US" sz="1400" dirty="0"/>
          </a:p>
        </p:txBody>
      </p:sp>
      <p:sp>
        <p:nvSpPr>
          <p:cNvPr id="6" name="modulo mascot.js sombra"/>
          <p:cNvSpPr/>
          <p:nvPr/>
        </p:nvSpPr>
        <p:spPr>
          <a:xfrm>
            <a:off x="2990088" y="1252728"/>
            <a:ext cx="173736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modulo mascot.js"/>
          <p:cNvSpPr/>
          <p:nvPr/>
        </p:nvSpPr>
        <p:spPr>
          <a:xfrm>
            <a:off x="2926080" y="1188720"/>
            <a:ext cx="1737360" cy="6400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mascot.js</a:t>
            </a:r>
            <a:endParaRPr lang="en-US" sz="1300" dirty="0"/>
          </a:p>
        </p:txBody>
      </p:sp>
      <p:sp>
        <p:nvSpPr>
          <p:cNvPr id="9" name="modulo password.js sombra"/>
          <p:cNvSpPr/>
          <p:nvPr/>
        </p:nvSpPr>
        <p:spPr>
          <a:xfrm>
            <a:off x="4956048" y="1252728"/>
            <a:ext cx="173736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modulo password.js"/>
          <p:cNvSpPr/>
          <p:nvPr/>
        </p:nvSpPr>
        <p:spPr>
          <a:xfrm>
            <a:off x="4892040" y="1188720"/>
            <a:ext cx="1737360" cy="6400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password.js</a:t>
            </a:r>
            <a:endParaRPr lang="en-US" sz="1300" dirty="0"/>
          </a:p>
        </p:txBody>
      </p:sp>
      <p:sp>
        <p:nvSpPr>
          <p:cNvPr id="12" name="modulo simulator.js sombra"/>
          <p:cNvSpPr/>
          <p:nvPr/>
        </p:nvSpPr>
        <p:spPr>
          <a:xfrm>
            <a:off x="6922008" y="1252728"/>
            <a:ext cx="173736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modulo simulator.js"/>
          <p:cNvSpPr/>
          <p:nvPr/>
        </p:nvSpPr>
        <p:spPr>
          <a:xfrm>
            <a:off x="6858000" y="1188720"/>
            <a:ext cx="1737360" cy="6400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simulator.js</a:t>
            </a:r>
            <a:endParaRPr lang="en-US" sz="1300" dirty="0"/>
          </a:p>
        </p:txBody>
      </p:sp>
      <p:sp>
        <p:nvSpPr>
          <p:cNvPr id="15" name="modulo quiz.js sombra"/>
          <p:cNvSpPr/>
          <p:nvPr/>
        </p:nvSpPr>
        <p:spPr>
          <a:xfrm>
            <a:off x="2990088" y="2121408"/>
            <a:ext cx="173736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modulo quiz.js"/>
          <p:cNvSpPr/>
          <p:nvPr/>
        </p:nvSpPr>
        <p:spPr>
          <a:xfrm>
            <a:off x="2926080" y="2057400"/>
            <a:ext cx="1737360" cy="6400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1752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quiz.js</a:t>
            </a:r>
            <a:endParaRPr lang="en-US" sz="1300" dirty="0"/>
          </a:p>
        </p:txBody>
      </p:sp>
      <p:sp>
        <p:nvSpPr>
          <p:cNvPr id="18" name="modulo tasks.js sombra"/>
          <p:cNvSpPr/>
          <p:nvPr/>
        </p:nvSpPr>
        <p:spPr>
          <a:xfrm>
            <a:off x="4956048" y="2121408"/>
            <a:ext cx="173736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modulo tasks.js"/>
          <p:cNvSpPr/>
          <p:nvPr/>
        </p:nvSpPr>
        <p:spPr>
          <a:xfrm>
            <a:off x="4892040" y="2057400"/>
            <a:ext cx="1737360" cy="6400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tasks.js</a:t>
            </a:r>
            <a:endParaRPr lang="en-US" sz="1300" dirty="0"/>
          </a:p>
        </p:txBody>
      </p:sp>
      <p:sp>
        <p:nvSpPr>
          <p:cNvPr id="21" name="modulo app.js sombra"/>
          <p:cNvSpPr/>
          <p:nvPr/>
        </p:nvSpPr>
        <p:spPr>
          <a:xfrm>
            <a:off x="6922008" y="2121408"/>
            <a:ext cx="173736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modulo app.js"/>
          <p:cNvSpPr/>
          <p:nvPr/>
        </p:nvSpPr>
        <p:spPr>
          <a:xfrm>
            <a:off x="6858000" y="2057400"/>
            <a:ext cx="1737360" cy="6400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300" dirty="0"/>
          </a:p>
        </p:txBody>
      </p:sp>
      <p:sp>
        <p:nvSpPr>
          <p:cNvPr id="24" name="flecha"/>
          <p:cNvSpPr/>
          <p:nvPr/>
        </p:nvSpPr>
        <p:spPr>
          <a:xfrm>
            <a:off x="2514600" y="155448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guardado sombra"/>
          <p:cNvSpPr/>
          <p:nvPr/>
        </p:nvSpPr>
        <p:spPr>
          <a:xfrm>
            <a:off x="521208" y="3127248"/>
            <a:ext cx="3931920" cy="1325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guardado"/>
          <p:cNvSpPr/>
          <p:nvPr/>
        </p:nvSpPr>
        <p:spPr>
          <a:xfrm>
            <a:off x="457200" y="3063240"/>
            <a:ext cx="3931920" cy="13258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27" name="icono lista" descr="Ícono li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1430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(solo en el celular)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racha y tareas. Nada más.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verificador trabaja solo en memoria.</a:t>
            </a:r>
            <a:endParaRPr lang="en-US" sz="1300" dirty="0"/>
          </a:p>
        </p:txBody>
      </p:sp>
      <p:sp>
        <p:nvSpPr>
          <p:cNvPr id="29" name="distribucion sombra"/>
          <p:cNvSpPr/>
          <p:nvPr/>
        </p:nvSpPr>
        <p:spPr>
          <a:xfrm>
            <a:off x="4818888" y="3127248"/>
            <a:ext cx="3931920" cy="1325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distribucion"/>
          <p:cNvSpPr/>
          <p:nvPr/>
        </p:nvSpPr>
        <p:spPr>
          <a:xfrm>
            <a:off x="4754880" y="3063240"/>
            <a:ext cx="3931920" cy="13258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pic>
        <p:nvPicPr>
          <p:cNvPr id="31" name="icono rayo" descr="Ícono ray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200400"/>
            <a:ext cx="365760" cy="36576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44068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base, dos formas de usarla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 APK con Capacitor (GitHub lo compila).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y PC: versión web instalable.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de inteligencia artificial</a:t>
            </a:r>
            <a:endParaRPr lang="en-US" sz="2800" dirty="0"/>
          </a:p>
        </p:txBody>
      </p:sp>
      <p:sp>
        <p:nvSpPr>
          <p:cNvPr id="3" name="ia sombra"/>
          <p:cNvSpPr/>
          <p:nvPr/>
        </p:nvSpPr>
        <p:spPr>
          <a:xfrm>
            <a:off x="521208" y="1252728"/>
            <a:ext cx="3977640" cy="2514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a"/>
          <p:cNvSpPr/>
          <p:nvPr/>
        </p:nvSpPr>
        <p:spPr>
          <a:xfrm>
            <a:off x="457200" y="1188720"/>
            <a:ext cx="3977640" cy="251460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IA (Claude Opus 5.5)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Señaló problemas del prompt antes de programar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Generó el código, la mascota y los textos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Escribió 69 pruebas automáticas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Redactó la documentación base</a:t>
            </a:r>
            <a:endParaRPr lang="en-US" sz="1300" dirty="0"/>
          </a:p>
        </p:txBody>
      </p:sp>
      <p:sp>
        <p:nvSpPr>
          <p:cNvPr id="7" name="equipo sombra"/>
          <p:cNvSpPr/>
          <p:nvPr/>
        </p:nvSpPr>
        <p:spPr>
          <a:xfrm>
            <a:off x="4773168" y="1252728"/>
            <a:ext cx="3977640" cy="2514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equipo"/>
          <p:cNvSpPr/>
          <p:nvPr/>
        </p:nvSpPr>
        <p:spPr>
          <a:xfrm>
            <a:off x="4709160" y="1188720"/>
            <a:ext cx="3977640" cy="251460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Nuestro equipo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83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Definimos la idea, la mascota y la rúbrica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Tomamos las decisiones clave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Revisamos el contenido y lo probamos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Registramos todo en la Bitácora de IA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IA es una herramienta: la responsabilidad de revisar y decidir es del equipo.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Conclusiones</a:t>
            </a:r>
            <a:endParaRPr lang="en-US" sz="2800" dirty="0"/>
          </a:p>
        </p:txBody>
      </p:sp>
      <p:pic>
        <p:nvPicPr>
          <p:cNvPr id="3" name="icono estrella" descr="Ícono estrel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1234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tema serio se puede enseñar jugando sin perder rigor.</a:t>
            </a:r>
            <a:endParaRPr lang="en-US" sz="1500" dirty="0"/>
          </a:p>
        </p:txBody>
      </p:sp>
      <p:pic>
        <p:nvPicPr>
          <p:cNvPr id="5" name="icono candado" descr="Ícono cand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02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2194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desde el diseño: la herramienta de contraseñas es la que nunca guarda nada.</a:t>
            </a:r>
            <a:endParaRPr lang="en-US" sz="1500" dirty="0"/>
          </a:p>
        </p:txBody>
      </p:sp>
      <p:pic>
        <p:nvPicPr>
          <p:cNvPr id="7" name="icono corazon" descr="Ícono coraz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0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3154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también es cómo nos tratamos: identificar, prevenir y actuar, en línea y en persona.</a:t>
            </a:r>
            <a:endParaRPr lang="en-US" sz="1500" dirty="0"/>
          </a:p>
        </p:txBody>
      </p:sp>
      <p:pic>
        <p:nvPicPr>
          <p:cNvPr id="9" name="mascota" descr="Mascota de CiberEscu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97280"/>
            <a:ext cx="2011680" cy="235000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350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50292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paso: probarla con estudiantes reales y agregar un modo para el profesor.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berEscudo">
  <a:themeElements>
    <a:clrScheme name="CiberEscudo">
      <a:dk1>
        <a:srgbClr val="0B0716"/>
      </a:dk1>
      <a:lt1>
        <a:srgbClr val="FFFFFF"/>
      </a:lt1>
      <a:dk2>
        <a:srgbClr val="1F1536"/>
      </a:dk2>
      <a:lt2>
        <a:srgbClr val="F3ECFF"/>
      </a:lt2>
      <a:accent1>
        <a:srgbClr val="FF3D9A"/>
      </a:accent1>
      <a:accent2>
        <a:srgbClr val="22E6F2"/>
      </a:accent2>
      <a:accent3>
        <a:srgbClr val="FFD93B"/>
      </a:accent3>
      <a:accent4>
        <a:srgbClr val="3EE38F"/>
      </a:accent4>
      <a:accent5>
        <a:srgbClr val="FF5F5F"/>
      </a:accent5>
      <a:accent6>
        <a:srgbClr val="C3B6E3"/>
      </a:accent6>
      <a:hlink>
        <a:srgbClr val="22E6F2"/>
      </a:hlink>
      <a:folHlink>
        <a:srgbClr val="FF3D9A"/>
      </a:folHlink>
    </a:clrScheme>
    <a:fontScheme name="CiberEscudo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CiberEscudo · Guion de la presentación</dc:title>
  <dc:subject>PptxGenJS Presentation</dc:subject>
  <dc:creator>Equipo CiberEscudo</dc:creator>
  <cp:lastModifiedBy>Equipo CiberEscudo</cp:lastModifiedBy>
  <cp:revision>1</cp:revision>
  <dcterms:created xsi:type="dcterms:W3CDTF">2026-10-30T17:11:35Z</dcterms:created>
  <dcterms:modified xsi:type="dcterms:W3CDTF">2026-10-30T17:11:35Z</dcterms:modified>
</cp:coreProperties>
</file>